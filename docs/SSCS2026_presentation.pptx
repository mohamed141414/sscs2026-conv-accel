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Power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Static leakage (454.77 mW)</c:v>
                </c:pt>
                <c:pt idx="1">
                  <c:v>Dynamic (17.50 mW)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454.77</c:v>
                </c:pt>
                <c:pt idx="1">
                  <c:v>17.50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3x3 convolution accelerator for the SSCS Egypt 2026 competition. Fully verified, timing closed, bitstream generated on Virtex-5.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Zero BRAM and the FoM are the two numbers that matter most. 74% frequency headroom over the 100 MHz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scoring axes - resource usage and power both feed the Figure of Merit, which drove our key design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Line-buffer sliding window. Two SRL line buffers feed a 3x3 register window; nine multipliers, three row sums, then saturation and optional ReLU.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stall tolerance is the key architectural property - it eliminates the output FIFO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Bit-width analysis is derived, not guessed. The saturation test cases were written specifically so the clamp path is exercised.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Request-response protocol over UART. Seven states. The tx_sent flag fixes a handshake race described on the verification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bugs were found by probing internal state in simulation. On hardware they would have shown only as a hung LED and garbage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spend time on. Two full builds, placed and routed, to settle a question most teams would answer by guessing.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the word 'proven' -- this is a monitored testbench result, not an inference from a smaller violation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the leakage. A 28nm part would report far lower total power for reasons unrelated to design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required table format from the competition announcement, filled in with measured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naming what is left: the two bonus items. The bitstream exists, only board access is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828800"/>
            <a:ext cx="6035040" cy="603504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3291840"/>
            <a:ext cx="3840480" cy="384048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FPGA-Based Edge-AI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Vision Accelerator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77240" y="3657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3×3 CNN convolution engine at one output pixel per cycle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5212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SSCS Egypt Chapter  ·  2026 Student Design Competition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5532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Xilinx Virtex-5 XC5VLX50T  ·  Digilent Genesys  ·  ISE 14.7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LANDED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Headline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05456" cy="1572768"/>
          </a:xfrm>
          <a:prstGeom prst="roundRect">
            <a:avLst>
              <a:gd name="adj" fmla="val 3488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47672"/>
            <a:ext cx="2505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64261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LUTs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691640"/>
            <a:ext cx="2505456" cy="1572768"/>
          </a:xfrm>
          <a:prstGeom prst="roundRect">
            <a:avLst>
              <a:gd name="adj" fmla="val 3488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01568" y="1947672"/>
            <a:ext cx="2505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401568" y="264261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RAMs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54496" y="1691640"/>
            <a:ext cx="2505456" cy="1572768"/>
          </a:xfrm>
          <a:prstGeom prst="roundRect">
            <a:avLst>
              <a:gd name="adj" fmla="val 3488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54496" y="1947672"/>
            <a:ext cx="2505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167.0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254496" y="264261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F-max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07424" y="1691640"/>
            <a:ext cx="2505456" cy="1572768"/>
          </a:xfrm>
          <a:prstGeom prst="roundRect">
            <a:avLst>
              <a:gd name="adj" fmla="val 3488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07424" y="1947672"/>
            <a:ext cx="2505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472.27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107424" y="264261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mW total power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2505456" cy="1572768"/>
          </a:xfrm>
          <a:prstGeom prst="roundRect">
            <a:avLst>
              <a:gd name="adj" fmla="val 3488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895344"/>
            <a:ext cx="2505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0.8755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548640" y="4590288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px / cycle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401568" y="3584448"/>
            <a:ext cx="2505456" cy="1572768"/>
          </a:xfrm>
          <a:prstGeom prst="roundRect">
            <a:avLst>
              <a:gd name="adj" fmla="val 3488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01568" y="3895344"/>
            <a:ext cx="2505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 / 78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3401568" y="4590288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bit-exact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54496" y="3584448"/>
            <a:ext cx="2505456" cy="1572768"/>
          </a:xfrm>
          <a:prstGeom prst="roundRect">
            <a:avLst>
              <a:gd name="adj" fmla="val 3488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4496" y="3895344"/>
            <a:ext cx="2505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6254496" y="4590288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cycles to 1st output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107424" y="3584448"/>
            <a:ext cx="2505456" cy="1572768"/>
          </a:xfrm>
          <a:prstGeom prst="roundRect">
            <a:avLst>
              <a:gd name="adj" fmla="val 3488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07424" y="3895344"/>
            <a:ext cx="2505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2.417×10⁻³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107424" y="4590288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of Merit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546811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post-place-and-route, all timing constraints met, timing score 0.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design had to 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64208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15568" y="162763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88920" y="162763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32×32 grayscale, 8-bit unsigned fixed point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2402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20370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88920" y="22037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N×N with programmable coefficients, 8-bit signed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816352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15568" y="277977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88920" y="277977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with a documented border policy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3392424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392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15568" y="33558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8920" y="335584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16-bit signed minimum, overflow handling explained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39684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5568" y="39319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788920" y="39319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Bit-exact against a Python / MATLAB / C golden model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4544568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15568" y="450799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88920" y="450799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Utilisation, timing, power, and a Figure of Merit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8138160" y="1572768"/>
            <a:ext cx="3474720" cy="3566160"/>
          </a:xfrm>
          <a:prstGeom prst="roundRect">
            <a:avLst>
              <a:gd name="adj" fmla="val 1579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2480" y="178308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12480" y="2212848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design quality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usage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and throughput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closure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estimate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DATAPATH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11027664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output pixel per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88336" cy="2743200"/>
          </a:xfrm>
          <a:prstGeom prst="roundRect">
            <a:avLst>
              <a:gd name="adj" fmla="val 2041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8470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86384" y="226771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688336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32-deep SRL line buffers feed a 3×3 register window that shifts left every valid cycle.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36976" y="27432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410712" y="1645920"/>
            <a:ext cx="2688336" cy="2743200"/>
          </a:xfrm>
          <a:prstGeom prst="roundRect">
            <a:avLst>
              <a:gd name="adj" fmla="val 2041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48456" y="18470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648456" y="226771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48456" y="2688336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parallel 9×8 signed multiplies on DSP48E blocks. 17-bit exact products.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48" y="27432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272784" y="1645920"/>
            <a:ext cx="2688336" cy="2743200"/>
          </a:xfrm>
          <a:prstGeom prst="roundRect">
            <a:avLst>
              <a:gd name="adj" fmla="val 2041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0528" y="18470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510528" y="226771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sums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10528" y="2688336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3-term adders. Short combinational depth is why timing closes with 74% headroom.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961120" y="27432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134856" y="1645920"/>
            <a:ext cx="2688336" cy="2743200"/>
          </a:xfrm>
          <a:prstGeom prst="roundRect">
            <a:avLst>
              <a:gd name="adj" fmla="val 2041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72600" y="18470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372600" y="226771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72600" y="2688336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sum, saturation to int16, then optional ReLU as a single-cycle clamp.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645152"/>
            <a:ext cx="11064240" cy="1170432"/>
          </a:xfrm>
          <a:prstGeom prst="roundRect">
            <a:avLst>
              <a:gd name="adj" fmla="val 4688"/>
            </a:avLst>
          </a:prstGeom>
          <a:solidFill>
            <a:srgbClr val="F3F8FB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79145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Stall-tolerant by construction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841248" y="513892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state element is gated on in_valid, so gaps in the input stream are harmless. The host wrapper therefore advances the stream at UART pace instead of buffering 900 results — one 16-bit register replaces a 14.4 kbit FIFO, which is what keeps BRAM at zero.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Fixed-point analysis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Worst-case accumulator excursion, computed analytically in the golden model: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01952"/>
          <a:ext cx="6858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572768"/>
                <a:gridCol w="1572768"/>
                <a:gridCol w="1243584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positive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negative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 needed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Saturation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3×3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+291,465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−293,760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5×5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+809,625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−816,000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7×7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+1,586,865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−1,599,360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584448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22-bit accumulator implemented — headroom to N = 7 with no redesign.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818120" y="1901952"/>
            <a:ext cx="3794760" cy="3291840"/>
          </a:xfrm>
          <a:prstGeom prst="roundRect">
            <a:avLst>
              <a:gd name="adj" fmla="val 1667"/>
            </a:avLst>
          </a:prstGeom>
          <a:solidFill>
            <a:srgbClr val="FDF0EE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92440" y="210312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Saturation is mandatory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92440" y="2505456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accumulator range exceeds the 16-bit output range by roughly 9×, so results are clamped to −32,768 .. +32,767 rather than allowed to wrap.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of the 72 verification cases drive saturation deliberately, using all-+127 and all-−128 kernels against maximum-intensity images.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Saturation logic that never fires in simulation is untested logic.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and host interface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389888"/>
            <a:ext cx="78638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at three levels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3566160" cy="2286000"/>
          </a:xfrm>
          <a:prstGeom prst="roundRect">
            <a:avLst>
              <a:gd name="adj" fmla="val 2400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105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560320" y="188366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cases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images × 6 kernels × ReLU on/off,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pixels each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33467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/ 72 bit-exact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297680" y="1627632"/>
            <a:ext cx="3566160" cy="2286000"/>
          </a:xfrm>
          <a:prstGeom prst="roundRect">
            <a:avLst>
              <a:gd name="adj" fmla="val 2400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8105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309360" y="188366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cases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0" y="22860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UART protocol including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load and readback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0" y="33467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/ 900 each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46720" y="1627632"/>
            <a:ext cx="3566160" cy="2286000"/>
          </a:xfrm>
          <a:prstGeom prst="roundRect">
            <a:avLst>
              <a:gd name="adj" fmla="val 2400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18105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058400" y="188366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cases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21040" y="22860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sequencing with no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attached (dry run)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321040" y="33467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41330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defects found — both real synchronous-design hazards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5486400" cy="1481328"/>
          </a:xfrm>
          <a:prstGeom prst="roundRect">
            <a:avLst>
              <a:gd name="adj" fmla="val 3704"/>
            </a:avLst>
          </a:prstGeom>
          <a:solidFill>
            <a:srgbClr val="FDF0EE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471830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Window-valid misalignment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04672" y="5047488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registers and position counters update on the same edge, so the valid flag led the data by one cycle and every output shifted by one position. Fixed with a registered win_valid_q stage.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09360" y="4572000"/>
            <a:ext cx="5303520" cy="1481328"/>
          </a:xfrm>
          <a:prstGeom prst="roundRect">
            <a:avLst>
              <a:gd name="adj" fmla="val 3704"/>
            </a:avLst>
          </a:prstGeom>
          <a:solidFill>
            <a:srgbClr val="FDF0EE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65392" y="47183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transmit handshake race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565392" y="5047488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uart_tx clears tx_busy on the same edge it pulses tx_done, so testing !tx_busy re-armed the transmitter and it resent the same byte forever. Fixed with an explicit tx_sent flag.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DESIGN-SPACE EXPLORATION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measured instead of assuming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FOM  =  Throughput  ÷  [ Power × (LUTs + 50×DSPs + 100×BRAMs) ]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83664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DSP48E blocks contribute 450 units — 60% of the resource denominator. The natural hypothesis: move the multipliers into LUT logic and the FoM improves. So we built both.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87168"/>
          <a:ext cx="67665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A — DSP48E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B — LUT multipliers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 LUTs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DSP48E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RAM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 cost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F-max (post-route)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167.0 MHz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132.8 MHz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Figure of Merit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2.417×10⁻³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1.395×10⁻³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26680" y="2487168"/>
            <a:ext cx="3886200" cy="3072384"/>
          </a:xfrm>
          <a:prstGeom prst="roundRect">
            <a:avLst>
              <a:gd name="adj" fmla="val 1786"/>
            </a:avLst>
          </a:prstGeom>
          <a:solidFill>
            <a:srgbClr val="FDF0EE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01000" y="2688336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hypothesis was wrong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001000" y="310896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9×8 signed multiplier costs about 113 LUTs in Virtex-5 fabric.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the DSPs saved 450 penalty units but added 1,001 LUTs — a net 551 units worse, plus a 24% loss of maximum frequency.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ships, with a 72% higher Figure of Merit. Reasoning from the formula alone would have selected the worse design.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ZERO-GAP STREAMING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Earning the one-output-per-cycle bonus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organizer's bar: out_valid must never drop for 2+ cycles during processing — not even at row boundaries.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FDF0EE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10312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attempt: padding pixels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04672" y="2468880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literal zero pixels between rows to zero-pad the math. Correct values — but each injected pixel cost one real cycle: 2-cycle stall at every row boundary, 31 violations measured directly.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920240"/>
            <a:ext cx="5440680" cy="1965960"/>
          </a:xfrm>
          <a:prstGeom prst="roundRect">
            <a:avLst>
              <a:gd name="adj" fmla="val 2791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28232" y="21031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mask, don't inject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28232" y="2468880"/>
            <a:ext cx="4983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padding comes free from line-buffer reset timing. Left padding is applied by masking the window's oldest columns to zero — no pixel ever costs a cycle. Every real pixel produces one output.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069080"/>
            <a:ext cx="11064240" cy="1737360"/>
          </a:xfrm>
          <a:prstGeom prst="roundRect">
            <a:avLst>
              <a:gd name="adj" fmla="val 3158"/>
            </a:avLst>
          </a:prstGeom>
          <a:solidFill>
            <a:srgbClr val="F3F8FB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233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Proven, not asserted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4572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testbench feeds the core 1,024 real pixels continuously — no padding pixels of any kind — and a cycle-by-cycle monitor tracks every gap in out_valid.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51023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Result:  1024 / 1024 bit-exact   ·   max gap = 0 cycles   ·   violations ≥ 2 cycles = 0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+118 LUTs for the masking logic and output FIFO, throughput 0.8755 → 1.0. Net FoM change: −1.0% — reported honestly, not oversold.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block RAM, by construction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470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buffers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249424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256-bit flat shift registers, which XST infers as sixteen 30-bit SRL primitives occupying 17 LUTs in total — confirmed in the map report.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FDF0EE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8470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92240" y="2249424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BRAM would have cost at least 100 penalty units — more than a third of the entire LUT budget of the submitted design — to store 512 bits.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96849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breakdown</a:t>
            </a:r>
            <a:endParaRPr lang="en-US" sz="16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57200" y="4206240"/>
          <a:ext cx="402336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4846320" y="4370832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F3F8FB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457200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17.50 mW of the 472.27 mW total is dynamic, measured via post-route SAIF activity capture at 100% net matching. The remaining 454.77 mW is static leakage inherent to the 65 nm Virtex-5 process and independent of the design.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120640" y="5413248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dynamic power alone the FoM would be 5.52×10⁻², some 23× higher. We report total power as the official figure, as the conservative reading of the specification.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POST-PLACE-AND-ROUTE, BOTH BUILDS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results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651760"/>
                <a:gridCol w="4114800"/>
                <a:gridCol w="164592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 (primary)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(zero-gap bonus)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/ output precision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/ 16, saturating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/ 16, saturating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Line-buffer sliding window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column masking, output FIFO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(DSP48E)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(DSP48E)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Latency, first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 cycles (32×32)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Throughput, sustained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px/cycle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utilisation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 LUT, 275 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435 LUT, 325 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RAM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Maximum frequency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MHz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 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met, score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met, score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472.27 (17.50 dyn / 454.77 static)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472.27 (17.50 dyn / 454.77 static)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78/78 bit-exact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1024/1024, 0-cycle max 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2.417 × 10⁻³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2.393 × 10⁻³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5852160" cy="5852160"/>
          </a:xfrm>
          <a:prstGeom prst="ellipse">
            <a:avLst/>
          </a:prstGeom>
          <a:solidFill>
            <a:srgbClr val="065A82">
              <a:alpha val="4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868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claim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82880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and lean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0" y="18288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output pixel per cycle, zero BRAM, 317 LUTs, 67% frequency headroom.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2715768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269748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Verified, not asserted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697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cases bit-exact against a golden model, including deliberate saturation coverage.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3584448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356616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assumed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0" y="3566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full builds placed and routed to settle the DSP-versus-LUT question empirically.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4453128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453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443484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limits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0" y="4434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power reported despite 96% of it being process leakage we cannot influence.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574243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Remaining: board demonstration and an edge-detection demo — both optional bonus items. The bitstream is built.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2026-08-27T08:42:19Z</dcterms:created>
  <dcterms:modified xsi:type="dcterms:W3CDTF">2026-08-27T08:42:19Z</dcterms:modified>
</cp:coreProperties>
</file>